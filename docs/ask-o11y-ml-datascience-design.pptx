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863840" y="822960"/>
            <a:ext cx="1554480" cy="566928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0" y="941832"/>
            <a:ext cx="1554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48CAE4"/>
                </a:solidFill>
                <a:latin typeface="Noto Sans CJK TC"/>
              </a:rPr>
              <a:t>ONTOLOGY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554480"/>
            <a:ext cx="1554480" cy="566928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B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0" y="1673352"/>
            <a:ext cx="1554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4B81FF"/>
                </a:solidFill>
                <a:latin typeface="Noto Sans CJK TC"/>
              </a:rPr>
              <a:t>ML GATE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286000"/>
            <a:ext cx="1554480" cy="566928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2404872"/>
            <a:ext cx="1554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43CA93"/>
                </a:solidFill>
                <a:latin typeface="Noto Sans CJK TC"/>
              </a:rPr>
              <a:t>SANDBOX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017520"/>
            <a:ext cx="1554480" cy="566928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3136391"/>
            <a:ext cx="1554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A94D"/>
                </a:solidFill>
                <a:latin typeface="Noto Sans CJK TC"/>
              </a:rPr>
              <a:t>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749039"/>
            <a:ext cx="1554480" cy="566928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B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3867911"/>
            <a:ext cx="1554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B177FF"/>
                </a:solidFill>
                <a:latin typeface="Noto Sans CJK TC"/>
              </a:rPr>
              <a:t>GRAFANA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4480560"/>
            <a:ext cx="1554480" cy="566928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6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4599432"/>
            <a:ext cx="1554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6775"/>
                </a:solidFill>
                <a:latin typeface="Noto Sans CJK TC"/>
              </a:rPr>
              <a:t>GOVERN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914400"/>
            <a:ext cx="64008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48CAE4"/>
                </a:solidFill>
                <a:latin typeface="Noto Sans CJK TC"/>
              </a:rPr>
              <a:t>ASK O11Y × GRAFANA · DATA SCIENCE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417320"/>
            <a:ext cx="6766560" cy="1463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800" b="1">
                <a:solidFill>
                  <a:srgbClr val="F5F8FC"/>
                </a:solidFill>
                <a:latin typeface="Noto Sans CJK TC"/>
              </a:rPr>
              <a:t>機器學習分析平台
資料科學系統設計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291840"/>
            <a:ext cx="6309360" cy="23774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600">
                <a:solidFill>
                  <a:srgbClr val="AEBCCF"/>
                </a:solidFill>
                <a:latin typeface="Noto Sans CJK TC"/>
              </a:rPr>
              <a:t>上傳即語意：ontology candidate + 洩漏/敏感欄位治理閘門</a:t>
            </a:r>
          </a:p>
          <a:p>
            <a:pPr>
              <a:lnSpc>
                <a:spcPct val="118000"/>
              </a:lnSpc>
            </a:pPr>
            <a:r>
              <a:rPr sz="1600">
                <a:solidFill>
                  <a:srgbClr val="AEBCCF"/>
                </a:solidFill>
                <a:latin typeface="Noto Sans CJK TC"/>
              </a:rPr>
              <a:t>結構化執行：可信模板取代生成碼，訓練-only 前處理</a:t>
            </a:r>
          </a:p>
          <a:p>
            <a:pPr>
              <a:lnSpc>
                <a:spcPct val="118000"/>
              </a:lnSpc>
            </a:pPr>
            <a:r>
              <a:rPr sz="1600">
                <a:solidFill>
                  <a:srgbClr val="AEBCCF"/>
                </a:solidFill>
                <a:latin typeface="Noto Sans CJK TC"/>
              </a:rPr>
              <a:t>自動調參：untouched holdout + 泛化護欄 + 成本閾值最佳化</a:t>
            </a:r>
          </a:p>
          <a:p>
            <a:pPr>
              <a:lnSpc>
                <a:spcPct val="118000"/>
              </a:lnSpc>
            </a:pPr>
            <a:r>
              <a:rPr sz="1600">
                <a:solidFill>
                  <a:srgbClr val="AEBCCF"/>
                </a:solidFill>
                <a:latin typeface="Noto Sans CJK TC"/>
              </a:rPr>
              <a:t>主管可讀：每 1,000 筆白話呈現，write-gate 強制最低可讀標準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6126480"/>
            <a:ext cx="7315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EBCCF"/>
                </a:solidFill>
                <a:latin typeface="Noto Sans CJK TC"/>
              </a:rPr>
              <a:t>2026-08 · 實測資料集：UCI Adult / IBM Telco Churn（HuggingFace）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7315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SYSTEM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Noto Sans CJK TC"/>
              </a:rPr>
              <a:t>系統總覽：一個 LLM 規劃者，五個 MCP 信任邊界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286000" cy="91440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499616"/>
            <a:ext cx="213969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Noto Sans CJK TC"/>
              </a:rPr>
              <a:t>Ask O11y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819656"/>
            <a:ext cx="2139696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AEBCCF"/>
                </a:solidFill>
                <a:latin typeface="Noto Sans CJK TC"/>
              </a:rPr>
              <a:t>動態規劃 · 唯一規劃者
選 tools/skills/契約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743200"/>
            <a:ext cx="2286000" cy="86868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B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825496"/>
            <a:ext cx="213969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Dashboarding 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145536"/>
            <a:ext cx="2139696" cy="41147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AEBCCF"/>
                </a:solidFill>
                <a:latin typeface="Noto Sans CJK TC"/>
              </a:rPr>
              <a:t>Grafana JSON 作者
+ ml-method-selection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417320"/>
            <a:ext cx="2148840" cy="86868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499616"/>
            <a:ext cx="200253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Ontology MCP :8771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819656"/>
            <a:ext cx="2002536" cy="41147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AEBCCF"/>
                </a:solidFill>
                <a:latin typeface="Noto Sans CJK TC"/>
              </a:rPr>
              <a:t>唯讀語意層
classify/validate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743200"/>
            <a:ext cx="2148840" cy="86868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2825496"/>
            <a:ext cx="200253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Data Query Planner :8768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3145536"/>
            <a:ext cx="2002536" cy="41147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AEBCCF"/>
                </a:solidFill>
                <a:latin typeface="Noto Sans CJK TC"/>
              </a:rPr>
              <a:t>plan-only
語意/品質/洩漏最終閘門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4069080"/>
            <a:ext cx="2148840" cy="86868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4151376"/>
            <a:ext cx="200253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Grafana Query :8772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4471416"/>
            <a:ext cx="2002536" cy="41147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AEBCCF"/>
                </a:solidFill>
                <a:latin typeface="Noto Sans CJK TC"/>
              </a:rPr>
              <a:t>唯一資料執行者
uploads + frame ≤100k/50MB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417320"/>
            <a:ext cx="2148840" cy="86868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6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1499616"/>
            <a:ext cx="200253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Sandbox :8777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1819656"/>
            <a:ext cx="2002536" cy="41147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AEBCCF"/>
                </a:solidFill>
                <a:latin typeface="Noto Sans CJK TC"/>
              </a:rPr>
              <a:t>隔離·無網路
execute_ml_contract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743200"/>
            <a:ext cx="2148840" cy="86868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B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2825496"/>
            <a:ext cx="200253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Artifact Bridge :8773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145536"/>
            <a:ext cx="2002536" cy="41147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AEBCCF"/>
                </a:solidFill>
                <a:latin typeface="Noto Sans CJK TC"/>
              </a:rPr>
              <a:t>隱藏·模型不可見
opaque 綁定 + write-gate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069080"/>
            <a:ext cx="2148840" cy="86868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4151376"/>
            <a:ext cx="200253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Grafana Write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4471416"/>
            <a:ext cx="2002536" cy="41147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AEBCCF"/>
                </a:solidFill>
                <a:latin typeface="Noto Sans CJK TC"/>
              </a:rPr>
              <a:t>內建 update_dashboard
唯一 Dashboard 寫入者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2103120"/>
            <a:ext cx="2514600" cy="237744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25712" y="2185415"/>
            <a:ext cx="236829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信任邊界原則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514600"/>
            <a:ext cx="2286000" cy="1920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資料查詢只有 Grafana Query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Dashboard 寫入只有內建 MCP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Artifact Bridge 對模型隱藏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Sandbox 無網路無憑證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模型只見 opaque refs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全部 loopback + bearer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2880360" y="1847088"/>
            <a:ext cx="685800" cy="27431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880360" y="3172968"/>
            <a:ext cx="68580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880360" y="4498848"/>
            <a:ext cx="68580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715000" y="1847088"/>
            <a:ext cx="59436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715000" y="3172968"/>
            <a:ext cx="59436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715000" y="4498848"/>
            <a:ext cx="59436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458200" y="1847088"/>
            <a:ext cx="594360" cy="896112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458200" y="3108960"/>
            <a:ext cx="594360" cy="64008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458200" y="3931920"/>
            <a:ext cx="594360" cy="566928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94360" y="5486400"/>
            <a:ext cx="10972800" cy="8229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300">
                <a:solidFill>
                  <a:srgbClr val="AEBCCF"/>
                </a:solidFill>
                <a:latin typeface="Noto Sans CJK TC"/>
              </a:rPr>
              <a:t>治理貫穿全链路：upload 欄位角色 → Planner 語意/品質/洩漏閘門 → Grafana Query plan-hash → Sandbox contract 驗證 → Artifact Bridge ML write-gate。任一層不通即 fail-closed。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7315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END-TO-END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Noto Sans CJK TC"/>
              </a:rPr>
              <a:t>端到端資料流：上傳到主管可讀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389888" cy="105156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636776"/>
            <a:ext cx="1243584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Noto Sans CJK TC"/>
              </a:rPr>
              <a:t>1 · 上傳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956816"/>
            <a:ext cx="1243584" cy="59435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AEBCCF"/>
                </a:solidFill>
                <a:latin typeface="Noto Sans CJK TC"/>
              </a:rPr>
              <a:t>CSV/XLSX ≤50MB
自動語意標註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084831"/>
            <a:ext cx="91440" cy="0"/>
          </a:xfrm>
          <a:prstGeom prst="line">
            <a:avLst/>
          </a:prstGeom>
          <a:ln w="2286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984248" y="1554480"/>
            <a:ext cx="1389888" cy="105156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1636776"/>
            <a:ext cx="1243584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Noto Sans CJK TC"/>
              </a:rPr>
              <a:t>2 · 語意候選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956816"/>
            <a:ext cx="1243584" cy="59435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AEBCCF"/>
                </a:solidFill>
                <a:latin typeface="Noto Sans CJK TC"/>
              </a:rPr>
              <a:t>candidate ontology
+ analysis hints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74136" y="2084831"/>
            <a:ext cx="91440" cy="0"/>
          </a:xfrm>
          <a:prstGeom prst="line">
            <a:avLst/>
          </a:prstGeom>
          <a:ln w="2286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65576" y="1554480"/>
            <a:ext cx="1389888" cy="105156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B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1636776"/>
            <a:ext cx="1243584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Noto Sans CJK TC"/>
              </a:rPr>
              <a:t>3 · Analysis 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1956816"/>
            <a:ext cx="1243584" cy="59435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AEBCCF"/>
                </a:solidFill>
                <a:latin typeface="Noto Sans CJK TC"/>
              </a:rPr>
              <a:t>欄位角色·排除理由
等使用者確認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55464" y="2084831"/>
            <a:ext cx="91440" cy="0"/>
          </a:xfrm>
          <a:prstGeom prst="line">
            <a:avLst/>
          </a:prstGeom>
          <a:ln w="2286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946904" y="1554480"/>
            <a:ext cx="1389888" cy="105156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0056" y="1636776"/>
            <a:ext cx="1243584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Noto Sans CJK TC"/>
              </a:rPr>
              <a:t>4 · Query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0056" y="1956816"/>
            <a:ext cx="1243584" cy="59435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AEBCCF"/>
                </a:solidFill>
                <a:latin typeface="Noto Sans CJK TC"/>
              </a:rPr>
              <a:t>語意閘門釘 hash
bounded ≤100k rows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36792" y="2084831"/>
            <a:ext cx="91440" cy="0"/>
          </a:xfrm>
          <a:prstGeom prst="line">
            <a:avLst/>
          </a:prstGeom>
          <a:ln w="2286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28232" y="1554480"/>
            <a:ext cx="1389888" cy="105156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1384" y="1636776"/>
            <a:ext cx="1243584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Noto Sans CJK TC"/>
              </a:rPr>
              <a:t>5 · Grafana Frame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1956816"/>
            <a:ext cx="1243584" cy="59435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AEBCCF"/>
                </a:solidFill>
                <a:latin typeface="Noto Sans CJK TC"/>
              </a:rPr>
              <a:t>唯一執行者
opaque frame_ref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18120" y="2084831"/>
            <a:ext cx="91440" cy="0"/>
          </a:xfrm>
          <a:prstGeom prst="line">
            <a:avLst/>
          </a:prstGeom>
          <a:ln w="2286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909560" y="1554480"/>
            <a:ext cx="1389888" cy="105156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6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82712" y="1636776"/>
            <a:ext cx="1243584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Noto Sans CJK TC"/>
              </a:rPr>
              <a:t>6 · execute_ml_contract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1956816"/>
            <a:ext cx="1243584" cy="59435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AEBCCF"/>
                </a:solidFill>
                <a:latin typeface="Noto Sans CJK TC"/>
              </a:rPr>
              <a:t>可信模板·零生成碼
訓練-only 前處理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299448" y="2084831"/>
            <a:ext cx="91440" cy="0"/>
          </a:xfrm>
          <a:prstGeom prst="line">
            <a:avLst/>
          </a:prstGeom>
          <a:ln w="2286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390888" y="1554480"/>
            <a:ext cx="1389888" cy="105156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B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64040" y="1636776"/>
            <a:ext cx="1243584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Noto Sans CJK TC"/>
              </a:rPr>
              <a:t>7 · Manifest + PNG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1956816"/>
            <a:ext cx="1243584" cy="59435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AEBCCF"/>
                </a:solidFill>
                <a:latin typeface="Noto Sans CJK TC"/>
              </a:rPr>
              <a:t>白話 manifest
≤10 張圖·bounded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780776" y="2084831"/>
            <a:ext cx="91440" cy="0"/>
          </a:xfrm>
          <a:prstGeom prst="line">
            <a:avLst/>
          </a:prstGeom>
          <a:ln w="2286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872216" y="1554480"/>
            <a:ext cx="1389888" cy="105156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45368" y="1636776"/>
            <a:ext cx="1243584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Noto Sans CJK TC"/>
              </a:rPr>
              <a:t>8 · Grafana Preview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45368" y="1956816"/>
            <a:ext cx="1243584" cy="59435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AEBCCF"/>
                </a:solidFill>
                <a:latin typeface="Noto Sans CJK TC"/>
              </a:rPr>
              <a:t>write-gate 驗證
same-UID 發布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3063240"/>
            <a:ext cx="5486400" cy="137160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" y="3145536"/>
            <a:ext cx="534009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回饋與修訂迴路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3456432"/>
            <a:ext cx="521208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Preview 階段使用者可修訂：排除欄位、成本比、目標定義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修訂 = 新 contract hash = 重新過閘門；不繞過任何 gate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發布需再次明確確認；same-UID 移除 preview tag，不重跑分析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46520" y="3063240"/>
            <a:ext cx="5212080" cy="137160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B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9672" y="3145536"/>
            <a:ext cx="506577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全程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456432"/>
            <a:ext cx="493776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每層記錄 sha256：source / ontology candidate / plan / code / image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模型只見 opaque refs（frame_ref / plan_ref / execution_ref）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保留 artifacts：code、provenance、manifest、PNG（retention 管控）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846320"/>
            <a:ext cx="11155680" cy="1371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400">
                <a:solidFill>
                  <a:srgbClr val="AEBCCF"/>
                </a:solidFill>
                <a:latin typeface="Noto Sans CJK TC"/>
              </a:rPr>
              <a:t>設計重點：資料流沒有捷徑——任何資料進模型前必須先過語意層取得角色；任何訓練必須有 ontology-pinned contract；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AEBCCF"/>
                </a:solidFill>
                <a:latin typeface="Noto Sans CJK TC"/>
              </a:rPr>
              <a:t>任何圖進 Dashboard 必須經 opaque 綁定與 write-gate。LLM 負責理解意圖與呈現，deterministic gate 負責擋下不合規的分析。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7315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SEMANTIC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Noto Sans CJK TC"/>
              </a:rPr>
              <a:t>語意層與治理：上傳即分類，plan 即攔截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1847088" cy="137160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FF6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16916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F6775"/>
                </a:solidFill>
                <a:latin typeface="Noto Sans CJK TC"/>
              </a:rPr>
              <a:t>identifier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83664"/>
            <a:ext cx="16916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Noto Sans CJK TC"/>
              </a:rPr>
              <a:t>鍵值/權重/序號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169164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050">
                <a:solidFill>
                  <a:srgbClr val="AEBCCF"/>
                </a:solidFill>
                <a:latin typeface="Noto Sans CJK TC"/>
              </a:rPr>
              <a:t>fnlwgt、*_id、全唯一大數值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41448" y="1463040"/>
            <a:ext cx="1847088" cy="137160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FF6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8" y="1572768"/>
            <a:ext cx="16916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F6775"/>
                </a:solidFill>
                <a:latin typeface="Noto Sans CJK TC"/>
              </a:rPr>
              <a:t>leakage_risk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1883664"/>
            <a:ext cx="16916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Noto Sans CJK TC"/>
              </a:rPr>
              <a:t>事後訊號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2194560"/>
            <a:ext cx="169164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050">
                <a:solidFill>
                  <a:srgbClr val="AEBCCF"/>
                </a:solidFill>
                <a:latin typeface="Noto Sans CJK TC"/>
              </a:rPr>
              <a:t>Satisfaction/Reason/Rating/Survey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463040"/>
            <a:ext cx="1847088" cy="137160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1572768"/>
            <a:ext cx="16916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FA94D"/>
                </a:solidFill>
                <a:latin typeface="Noto Sans CJK TC"/>
              </a:rPr>
              <a:t>sensitive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1883664"/>
            <a:ext cx="16916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Noto Sans CJK TC"/>
              </a:rPr>
              <a:t>受保護屬性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194560"/>
            <a:ext cx="169164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050">
                <a:solidFill>
                  <a:srgbClr val="AEBCCF"/>
                </a:solidFill>
                <a:latin typeface="Noto Sans CJK TC"/>
              </a:rPr>
              <a:t>Gender/Sex/Race/Ethnicity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18504" y="1463040"/>
            <a:ext cx="1847088" cy="137160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572768"/>
            <a:ext cx="16916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43CA93"/>
                </a:solidFill>
                <a:latin typeface="Noto Sans CJK TC"/>
              </a:rPr>
              <a:t>target_candidate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1883664"/>
            <a:ext cx="16916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Noto Sans CJK TC"/>
              </a:rPr>
              <a:t>預測目標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194560"/>
            <a:ext cx="169164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050">
                <a:solidFill>
                  <a:srgbClr val="AEBCCF"/>
                </a:solidFill>
                <a:latin typeface="Noto Sans CJK TC"/>
              </a:rPr>
              <a:t>末位低基數類別欄 + 少數類比率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57032" y="1463040"/>
            <a:ext cx="1847088" cy="137160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2" y="1572768"/>
            <a:ext cx="16916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48CAE4"/>
                </a:solidFill>
                <a:latin typeface="Noto Sans CJK TC"/>
              </a:rPr>
              <a:t>temporal / feature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1883664"/>
            <a:ext cx="16916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Noto Sans CJK TC"/>
              </a:rPr>
              <a:t>可用特徵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2194560"/>
            <a:ext cx="169164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050">
                <a:solidFill>
                  <a:srgbClr val="AEBCCF"/>
                </a:solidFill>
                <a:latin typeface="Noto Sans CJK TC"/>
              </a:rPr>
              <a:t>時間欄與一般欄位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95560" y="1463040"/>
            <a:ext cx="1847088" cy="137160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AEB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1572768"/>
            <a:ext cx="16916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EBCCF"/>
                </a:solidFill>
                <a:latin typeface="Noto Sans CJK TC"/>
              </a:rPr>
              <a:t>constant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1883664"/>
            <a:ext cx="16916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Noto Sans CJK TC"/>
              </a:rPr>
              <a:t>常數欄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2194560"/>
            <a:ext cx="169164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050">
                <a:solidFill>
                  <a:srgbClr val="AEBCCF"/>
                </a:solidFill>
                <a:latin typeface="Noto Sans CJK TC"/>
              </a:rPr>
              <a:t>抽樣內單一值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154680"/>
            <a:ext cx="5486400" cy="155448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3236976"/>
            <a:ext cx="534009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上傳即產出（best-effort，不擋上傳）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547872"/>
            <a:ext cx="5212080" cy="10972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candidate-ontology.json：通過 candidate-IR schema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analysis-hints.json：每欄角色 + missing/minority rate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quality policy：正類&lt;5% 需申報策略｜缺失&gt;40% 入限制｜min rows 20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154680"/>
            <a:ext cx="5394960" cy="155448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6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6792" y="3236976"/>
            <a:ext cx="524865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三層 hash 驗證（fail-closed）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547872"/>
            <a:ext cx="5120640" cy="10972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Planner：contract vs candidate 角色 + source sha256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Grafana Query：plan_sha256 + candidate snapshot 綁定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Sandbox：同樣驗證後才允許執行；任一層不通即停止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029200"/>
            <a:ext cx="11155680" cy="11887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400">
                <a:solidFill>
                  <a:srgbClr val="AEBCCF"/>
                </a:solidFill>
                <a:latin typeface="Noto Sans CJK TC"/>
              </a:rPr>
              <a:t>拒絕碼即語意：LEAKAGE_FIELD_FORBIDDEN / SENSITIVE_FIELD_FORBIDDEN / FIELD_ROLE_FORBIDDEN /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AEBCCF"/>
                </a:solidFill>
                <a:latin typeface="Noto Sans CJK TC"/>
              </a:rPr>
              <a:t>IMBALANCE_STRATEGY_REQUIRED / QUALITY_POLICY_VIOLATION / SPLIT_POLICY_VIOLATION——模型與使用者都能看懂為何被擋。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7315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STRUCTURED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Noto Sans CJK TC"/>
              </a:rPr>
              <a:t>結構化 ML 執行器：execute_ml_contract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450">
                <a:solidFill>
                  <a:srgbClr val="AEBCCF"/>
                </a:solidFill>
                <a:latin typeface="Noto Sans CJK TC"/>
              </a:rPr>
              <a:t>輸入只有兩個 opaque refs：frame_ref（授權 frame）+ contract_ref（ontology-pinned plan）。</a:t>
            </a:r>
          </a:p>
          <a:p>
            <a:pPr>
              <a:lnSpc>
                <a:spcPct val="118000"/>
              </a:lnSpc>
            </a:pPr>
            <a:r>
              <a:rPr sz="1450">
                <a:solidFill>
                  <a:srgbClr val="AEBCCF"/>
                </a:solidFill>
                <a:latin typeface="Noto Sans CJK TC"/>
              </a:rPr>
              <a:t>Host 依契約組合確定性模板（ast 驗證）→ 既有授權/audit/provenance 機制執行。LLM 不生成訓練程式碼。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3566160" cy="210312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368296"/>
            <a:ext cx="341985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ml_preprocessing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688336"/>
            <a:ext cx="3419856" cy="164591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AEBCCF"/>
                </a:solidFill>
                <a:latin typeface="Noto Sans CJK TC"/>
              </a:rPr>
              <a:t>訓練-only 前處理庫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291840" cy="1554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median+indicator / most-frequent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one-hot；高基數 fold 內 target encoding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VIF&gt;10 共線剔除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nullable-dtype 安全布林 mask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fit_transform_train_test(train-only)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286000"/>
            <a:ext cx="3566160" cy="210312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B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2368296"/>
            <a:ext cx="341985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ml_autoresearch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688336"/>
            <a:ext cx="3419856" cy="164591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AEBCCF"/>
                </a:solidFill>
                <a:latin typeface="Noto Sans CJK TC"/>
              </a:rPr>
              <a:t>調參 + 泛化護欄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743200"/>
            <a:ext cx="3291840" cy="1554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per-kind 固定搜索空間（budget ≤40）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RandomizedSearchCV + StratifiedKFold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untouched holdout 最後評估一次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gap / stability / PSI / objective 護欄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LightGBM 優先，fallback HistGB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286000"/>
            <a:ext cx="3566160" cy="210312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B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2368296"/>
            <a:ext cx="341985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ml_presentation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688336"/>
            <a:ext cx="3419856" cy="164591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AEBCCF"/>
                </a:solidFill>
                <a:latin typeface="Noto Sans CJK TC"/>
              </a:rPr>
              <a:t>白話呈現契約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743200"/>
            <a:ext cx="3291840" cy="1554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bounded manifest（purpose/結論必填）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≤10 PNG：資料分布/每千件/混淆/ROC-PR…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raw rows / path / signed URL 拒收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caption + alt text 必附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63440"/>
            <a:ext cx="11155680" cy="1463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400">
                <a:solidFill>
                  <a:srgbClr val="AEBCCF"/>
                </a:solidFill>
                <a:latin typeface="Noto Sans CJK TC"/>
              </a:rPr>
              <a:t>為什麼重要：自由生成碼時代的所有執行期失敗（pandas NA crash、API 誤用、字型重設）都源自同一根源。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AEBCCF"/>
                </a:solidFill>
                <a:latin typeface="Noto Sans CJK TC"/>
              </a:rPr>
              <a:t>結構化執行把這類錯誤整類消除，結果可重現；自由 Python 保留給探索性分析，兩條路徑分離。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AEBCCF"/>
                </a:solidFill>
                <a:latin typeface="Noto Sans CJK TC"/>
              </a:rPr>
              <a:t>模板失敗不進 LLM 自修迴圈——模板由 host 持有，修復即平台層修復。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7315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AUTOTUNE &amp; GENERALIZATION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Noto Sans CJK TC"/>
              </a:rPr>
              <a:t>自動調參與泛化護欄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394960" cy="219456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B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545336"/>
            <a:ext cx="524865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調參協議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20640" cy="1737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搜索空間由 kind 模板宣告，生成碼不得自創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LightGBM：樹數/學習率/葉數/最小樣本/取樣/正則/scale_pos_weight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RandomizedSearchCV，budget ≤40，seed 固定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CV 策略繼承 split policy（分層/時間/分組）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調參只在訓練區間；holdout 全程隔離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394960" cy="47548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FF6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2194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F6775"/>
                </a:solidFill>
                <a:latin typeface="Noto Sans CJK TC"/>
              </a:rPr>
              <a:t>CV–holdout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554480"/>
            <a:ext cx="30175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Noto Sans CJK TC"/>
              </a:rPr>
              <a:t>≤ 0.05，超過判 overfit 拒絕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29968"/>
            <a:ext cx="5394960" cy="47548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21408"/>
            <a:ext cx="2194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FA94D"/>
                </a:solidFill>
                <a:latin typeface="Noto Sans CJK TC"/>
              </a:rPr>
              <a:t>特徵穩定度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121408"/>
            <a:ext cx="30175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Noto Sans CJK TC"/>
              </a:rPr>
              <a:t>折間 top-K Jaccard ≥ 0.6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596896"/>
            <a:ext cx="5394960" cy="47548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688336"/>
            <a:ext cx="2194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FA94D"/>
                </a:solidFill>
                <a:latin typeface="Noto Sans CJK TC"/>
              </a:rPr>
              <a:t>PSI 漂移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688336"/>
            <a:ext cx="30175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Noto Sans CJK TC"/>
              </a:rPr>
              <a:t>≤ 0.25，超過必須調查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163824"/>
            <a:ext cx="5394960" cy="47548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255264"/>
            <a:ext cx="2194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43CA93"/>
                </a:solidFill>
                <a:latin typeface="Noto Sans CJK TC"/>
              </a:rPr>
              <a:t>Objective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255264"/>
            <a:ext cx="30175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Noto Sans CJK TC"/>
              </a:rPr>
              <a:t>未達申報門檻 = below_objective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776472"/>
            <a:ext cx="539496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verdict ∈ accepted / overfit / unstable / drift / below_objective——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不是 accepted 的結果照樣呈現，但首屏必須標示未通過。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77639"/>
            <a:ext cx="11155680" cy="105156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4059935"/>
            <a:ext cx="1100937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為什麼這樣設計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389120"/>
            <a:ext cx="1088136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350">
                <a:solidFill>
                  <a:srgbClr val="AEBCCF"/>
                </a:solidFill>
                <a:latin typeface="Noto Sans CJK TC"/>
              </a:rPr>
              <a:t>泛化不是靠單一指標，而是四道獨立護欄互相補位：gap 抓過擬合、stability 抓不穩定特徵、PSI 抓分布漂移、objective 抓業務門檻。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AEBCCF"/>
                </a:solidFill>
                <a:latin typeface="Noto Sans CJK TC"/>
              </a:rPr>
              <a:t>全部通過才標 accepted；任何一道不通，結果仍然透明呈現但明確標注不可直接部署。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40680"/>
            <a:ext cx="11155680" cy="8229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350">
                <a:solidFill>
                  <a:srgbClr val="AEBCCF"/>
                </a:solidFill>
                <a:latin typeface="Noto Sans CJK TC"/>
              </a:rPr>
              <a:t>實測（Adult，40×5）：gap 0.0037 / stability 0.776 / PSI 0.0022 → accepted；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AEBCCF"/>
                </a:solidFill>
                <a:latin typeface="Noto Sans CJK TC"/>
              </a:rPr>
              <a:t>實測（Telco，20×5，排除洩漏欄）：gap 0.008 / stability 0.806 / PSI 0.025 → accepted。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7315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COST-BASED OPERATING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Noto Sans CJK TC"/>
              </a:rPr>
              <a:t>成本閾值最佳化：把 FN/FP 變成業務決策參數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450">
                <a:solidFill>
                  <a:srgbClr val="AEBCCF"/>
                </a:solidFill>
                <a:latin typeface="Noto Sans CJK TC"/>
              </a:rPr>
              <a:t>漏判（FN）與誤攔（FP）是翹翹板：固定模型下降低一個必升高另一個。唯一正確的做法是讓業務申報成本比，</a:t>
            </a:r>
          </a:p>
          <a:p>
            <a:pPr>
              <a:lnSpc>
                <a:spcPct val="118000"/>
              </a:lnSpc>
            </a:pPr>
            <a:r>
              <a:rPr sz="1450">
                <a:solidFill>
                  <a:srgbClr val="AEBCCF"/>
                </a:solidFill>
                <a:latin typeface="Noto Sans CJK TC"/>
              </a:rPr>
              <a:t>由平台在校準機率上選出加權成本最低的操作點——accuracy 不是唯一目標，營運總成本才是。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2651760" cy="109728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368296"/>
            <a:ext cx="250545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OOF 校準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688336"/>
            <a:ext cx="2505456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cross_val_predict 機率
+ isotonic 校準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4680" y="2834640"/>
            <a:ext cx="137159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91839" y="2286000"/>
            <a:ext cx="2651760" cy="109728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B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1" y="2368296"/>
            <a:ext cx="250545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閾值掃描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1" y="2688336"/>
            <a:ext cx="2505456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訓練 CV 機率掃 49 點
holdout 全程隔離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0" y="2834640"/>
            <a:ext cx="137159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80759" y="2286000"/>
            <a:ext cx="2651760" cy="109728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2368296"/>
            <a:ext cx="250545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成本選點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2688336"/>
            <a:ext cx="2505456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min(FN×成本+FP×成本)
支援 minimum_recall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32519" y="2834640"/>
            <a:ext cx="137161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869680" y="2286000"/>
            <a:ext cx="2651760" cy="109728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2832" y="2368296"/>
            <a:ext cx="250545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三方案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2688336"/>
            <a:ext cx="2505456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cost/balanced/recall
各附每千位 FN·FP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57600"/>
            <a:ext cx="11155680" cy="210312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3739896"/>
            <a:ext cx="1100937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Telco 實測：漏判成本 = 3 × 誤攔成本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069080"/>
            <a:ext cx="10881360" cy="1645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350">
                <a:solidFill>
                  <a:srgbClr val="AEBCCF"/>
                </a:solidFill>
                <a:latin typeface="Noto Sans CJK TC"/>
              </a:rPr>
              <a:t>· 選定門檻 0.301（成本最佳）：每千位漏判 42.6、誤攔 144.1、加權成本 271.9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AEBCCF"/>
                </a:solidFill>
                <a:latin typeface="Noto Sans CJK TC"/>
              </a:rPr>
              <a:t>· 傳統 0.5 門檻：每千位漏判 91.7、誤攔 59.2、加權成本 334.3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AEBCCF"/>
                </a:solidFill>
                <a:latin typeface="Noto Sans CJK TC"/>
              </a:rPr>
              <a:t>· 漏判 −54%，代價是誤攔增加——由業務成本比決定，不是模型決定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AEBCCF"/>
                </a:solidFill>
                <a:latin typeface="Noto Sans CJK TC"/>
              </a:rPr>
              <a:t>· holdout Acc 0.819 / ROC-AUC 0.920 / PR-AUC 0.810；契約未申報成本時，狀態維持「營運門檻待確認」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7315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PLAIN-LANGUAGE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Noto Sans CJK TC"/>
              </a:rPr>
              <a:t>Grafana 主管版呈現：write-gate 強制的白話設計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1155680" cy="786384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48CAE4"/>
                </a:solidFill>
                <a:latin typeface="Noto Sans CJK TC"/>
              </a:rPr>
              <a:t>1 · 決策摘要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508760"/>
            <a:ext cx="8046720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AEBCCF"/>
                </a:solidFill>
                <a:latin typeface="Noto Sans CJK TC"/>
              </a:rPr>
              <a:t>模型驗證狀態 / 營運狀態分離顯示；每 1,000 筆判對判錯；比舊方法少錯多少；下一步建議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95144"/>
            <a:ext cx="11155680" cy="786384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86584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43CA93"/>
                </a:solidFill>
                <a:latin typeface="Noto Sans CJK TC"/>
              </a:rPr>
              <a:t>2 · 分析過程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386584"/>
            <a:ext cx="8046720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AEBCCF"/>
                </a:solidFill>
                <a:latin typeface="Noto Sans CJK TC"/>
              </a:rPr>
              <a:t>六步白話流程（資料檢查→語意選欄→保留未見資料→比較設定→最後驗證）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72968"/>
            <a:ext cx="11155680" cy="786384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64408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A94D"/>
                </a:solidFill>
                <a:latin typeface="Noto Sans CJK TC"/>
              </a:rPr>
              <a:t>3 · 實際結果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264408"/>
            <a:ext cx="8046720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AEBCCF"/>
                </a:solidFill>
                <a:latin typeface="Noto Sans CJK TC"/>
              </a:rPr>
              <a:t>混淆矩陣、ROC/PR、門檻方案比較——每張圖附白話 caption 與 alt 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50791"/>
            <a:ext cx="11155680" cy="786384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B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42231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B177FF"/>
                </a:solidFill>
                <a:latin typeface="Noto Sans CJK TC"/>
              </a:rPr>
              <a:t>4 · 泛化與工程細節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142231"/>
            <a:ext cx="8046720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AEBCCF"/>
                </a:solidFill>
                <a:latin typeface="Noto Sans CJK TC"/>
              </a:rPr>
              <a:t>護欄健康卡、trial history、重要因素（非因果）、技術細節 &lt;details&gt; 收合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029200"/>
            <a:ext cx="5486400" cy="128016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5111496"/>
            <a:ext cx="534009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白話翻譯規則（write-gate 強制）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13248"/>
            <a:ext cx="5212080" cy="8686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每個百分比 → 每 1,000 筆實際次數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必有：分析目的 / 結論 / 資料分布圖 / 收合技術細節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模型驗證與營運使用是兩個獨立狀態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5029200"/>
            <a:ext cx="5394960" cy="128016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6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5111496"/>
            <a:ext cx="524865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安全邊界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413248"/>
            <a:ext cx="5120640" cy="8686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只能 image/text panels；圖走 opaque bindings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raw rows / 實體路徑 / signed URL 拒收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AEBCCF"/>
                </a:solidFill>
                <a:latin typeface="Noto Sans CJK TC"/>
              </a:rPr>
              <a:t>· 任一 ML-tag dashboard 不合最低標準即拒寫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7315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MEASURED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Noto Sans CJK TC"/>
              </a:rPr>
              <a:t>實測結果：兩個 HuggingFace 資料集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322576" cy="41148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463040"/>
            <a:ext cx="2194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48CAE4"/>
                </a:solidFill>
                <a:latin typeface="Noto Sans CJK TC"/>
              </a:rPr>
              <a:t>資料集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417320"/>
            <a:ext cx="1956816" cy="41148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53512" y="1463040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48CAE4"/>
                </a:solidFill>
                <a:latin typeface="Noto Sans CJK TC"/>
              </a:rPr>
              <a:t>基準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417320"/>
            <a:ext cx="2322576" cy="41148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463040"/>
            <a:ext cx="2194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48CAE4"/>
                </a:solidFill>
                <a:latin typeface="Noto Sans CJK TC"/>
              </a:rPr>
              <a:t>治理後調參模型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417320"/>
            <a:ext cx="2596896" cy="41148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42632" y="1463040"/>
            <a:ext cx="2468879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48CAE4"/>
                </a:solidFill>
                <a:latin typeface="Noto Sans CJK TC"/>
              </a:rPr>
              <a:t>每 1,000 換算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417320"/>
            <a:ext cx="1682495" cy="41148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94392" y="1463040"/>
            <a:ext cx="1554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48CAE4"/>
                </a:solidFill>
                <a:latin typeface="Noto Sans CJK TC"/>
              </a:rPr>
              <a:t>護欄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901952"/>
            <a:ext cx="2322576" cy="56692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029968"/>
            <a:ext cx="21945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Noto Sans CJK TC"/>
              </a:rPr>
              <a:t>Adult（UCI，32,561）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1901952"/>
            <a:ext cx="1956816" cy="56692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53512" y="2029968"/>
            <a:ext cx="18288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Noto Sans CJK TC"/>
              </a:rPr>
              <a:t>多數類 75.9%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1901952"/>
            <a:ext cx="2322576" cy="56692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2029968"/>
            <a:ext cx="21945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Noto Sans CJK TC"/>
              </a:rPr>
              <a:t>Acc 0.852 / ROC 0.923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901952"/>
            <a:ext cx="2596896" cy="56692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42632" y="2029968"/>
            <a:ext cx="2468879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Noto Sans CJK TC"/>
              </a:rPr>
              <a:t>852 對 / 148 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21240" y="1901952"/>
            <a:ext cx="1682495" cy="56692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94392" y="2029968"/>
            <a:ext cx="15544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Noto Sans CJK TC"/>
              </a:rPr>
              <a:t>accepted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542032"/>
            <a:ext cx="2322576" cy="56692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2670048"/>
            <a:ext cx="21945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Noto Sans CJK TC"/>
              </a:rPr>
              <a:t>Telco（4,225）無成本申報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0360" y="2542032"/>
            <a:ext cx="1956816" cy="56692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53512" y="2670048"/>
            <a:ext cx="18288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Noto Sans CJK TC"/>
              </a:rPr>
              <a:t>全留存 73.5%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92040" y="2542032"/>
            <a:ext cx="2322576" cy="56692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65192" y="2670048"/>
            <a:ext cx="21945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Noto Sans CJK TC"/>
              </a:rPr>
              <a:t>Acc 0.859 / ROC 0.920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9480" y="2542032"/>
            <a:ext cx="2596896" cy="56692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42632" y="2670048"/>
            <a:ext cx="2468879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Noto Sans CJK TC"/>
              </a:rPr>
              <a:t>859 對 / 141 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21240" y="2542032"/>
            <a:ext cx="1682495" cy="56692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94392" y="2670048"/>
            <a:ext cx="15544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Noto Sans CJK TC"/>
              </a:rPr>
              <a:t>accepted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3182112"/>
            <a:ext cx="2322576" cy="56692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3310128"/>
            <a:ext cx="21945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Noto Sans CJK TC"/>
              </a:rPr>
              <a:t>Telco（4,225）漏判=3×誤攔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80360" y="3182112"/>
            <a:ext cx="1956816" cy="56692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53512" y="3310128"/>
            <a:ext cx="18288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Noto Sans CJK TC"/>
              </a:rPr>
              <a:t>全留存 73.5%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92040" y="3182112"/>
            <a:ext cx="2322576" cy="56692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65192" y="3310128"/>
            <a:ext cx="21945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Noto Sans CJK TC"/>
              </a:rPr>
              <a:t>Acc 0.819 / 門檻 0.301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69480" y="3182112"/>
            <a:ext cx="2596896" cy="56692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42632" y="3310128"/>
            <a:ext cx="2468879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Noto Sans CJK TC"/>
              </a:rPr>
              <a:t>漏判 42.6（原 91.7）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21240" y="3182112"/>
            <a:ext cx="1682495" cy="56692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94392" y="3310128"/>
            <a:ext cx="15544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Noto Sans CJK TC"/>
              </a:rPr>
              <a:t>accepted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3822192"/>
            <a:ext cx="2322576" cy="56692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" y="3950208"/>
            <a:ext cx="21945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F6775"/>
                </a:solidFill>
                <a:latin typeface="Noto Sans CJK TC"/>
              </a:rPr>
              <a:t>Telco 含洩漏欄（對照組）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80360" y="3822192"/>
            <a:ext cx="1956816" cy="56692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53512" y="3950208"/>
            <a:ext cx="18288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F6775"/>
                </a:solidFill>
                <a:latin typeface="Noto Sans CJK TC"/>
              </a:rPr>
              <a:t>全留存 73.5%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92040" y="3822192"/>
            <a:ext cx="2322576" cy="56692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65192" y="3950208"/>
            <a:ext cx="21945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F6775"/>
                </a:solidFill>
                <a:latin typeface="Noto Sans CJK TC"/>
              </a:rPr>
              <a:t>Acc 0.967 ← 灌水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69480" y="3822192"/>
            <a:ext cx="2596896" cy="56692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42632" y="3950208"/>
            <a:ext cx="2468879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F6775"/>
                </a:solidFill>
                <a:latin typeface="Noto Sans CJK TC"/>
              </a:rPr>
              <a:t>治理閘門現已擋下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21240" y="3822192"/>
            <a:ext cx="1682495" cy="56692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94392" y="3950208"/>
            <a:ext cx="15544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F6775"/>
                </a:solidFill>
                <a:latin typeface="Noto Sans CJK TC"/>
              </a:rPr>
              <a:t>blocked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4553712"/>
            <a:ext cx="11155680" cy="1463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300">
                <a:solidFill>
                  <a:srgbClr val="AEBCCF"/>
                </a:solidFill>
                <a:latin typeface="Noto Sans CJK TC"/>
              </a:rPr>
              <a:t>· Adult 對照公開範圍（0.78–0.85 / AUC 0.83–0.86）：位於上緣；Telco PR-AUC 0.825 高於文獻常見 0.60–0.68（資料集變體較豐富，非同賽道正式排名）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AEBCCF"/>
                </a:solidFill>
                <a:latin typeface="Noto Sans CJK TC"/>
              </a:rPr>
              <a:t>· 治理前後對比：同一 Telco 資料集，含洩漏欄 0.967 → gate 後 0.859——分數變保守但可信；洩漏灌水現在由 deterministic gate 擋下，不依賴 LLM 判斷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AEBCCF"/>
                </a:solidFill>
                <a:latin typeface="Noto Sans CJK TC"/>
              </a:rPr>
              <a:t>· 成本閾值實測：漏判成本 3× 時，漏判 91.7 → 42.6/千（−54%），加權總成本 334 → 272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7315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PRINCIPLES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Noto Sans CJK TC"/>
              </a:rPr>
              <a:t>設計原則與後續藍圖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394960" cy="228600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499616"/>
            <a:ext cx="524865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已驗證的設計原則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120640" cy="18288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Advisory skill 引導判斷；deterministic gate 負責擋——兩層分離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生成碼換成可信模板後，執行期失敗整類消失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治理必須在 plan 前攔截（事後修訂不可靠）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每個百分比翻譯成每 1,000 筆，主管才會用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分數要配護欄才可信：gap/stability/PSI/objective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394960" cy="228600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499616"/>
            <a:ext cx="524865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藍圖（優先序）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120640" cy="18288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Candidate 明確 promotion artifact + 語意內容 hash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三層驗證收斂為 shared verifier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Sealed holdout + 評估預算（防反覆適應）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Optuna TPE / F relation-path 隱藏欄位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AEBCCF"/>
                </a:solidFill>
                <a:latin typeface="Noto Sans CJK TC"/>
              </a:rPr>
              <a:t>· MCP tools/listChanged 自動刷新 · 敏感欄位核准流程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023360"/>
            <a:ext cx="11155680" cy="173736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4105656"/>
            <a:ext cx="1100937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一句話總結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0881360" cy="11887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18000"/>
              </a:lnSpc>
            </a:pPr>
            <a:r>
              <a:rPr sz="1400">
                <a:solidFill>
                  <a:srgbClr val="AEBCCF"/>
                </a:solidFill>
                <a:latin typeface="Noto Sans CJK TC"/>
              </a:rPr>
              <a:t>這個平台把「跑一個模型」升級成「產出可信、可解釋、可被主管拍板的分析」：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AEBCCF"/>
                </a:solidFill>
                <a:latin typeface="Noto Sans CJK TC"/>
              </a:rPr>
              <a:t>語意層決定什麼資料可以進模型，結構化執行決定模型怎麼跑，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AEBCCF"/>
                </a:solidFill>
                <a:latin typeface="Noto Sans CJK TC"/>
              </a:rPr>
              <a:t>泛化護欄決定分數可不可信，成本閾值決定怎麼用，write-gate 決定主管看到的東西是否可讀且誠實。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